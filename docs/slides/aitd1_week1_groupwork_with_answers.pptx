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260000"/>
            <a:ext cx="10800000" cy="720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Noto Sans JP"/>
              </a:rPr>
              <a:t>人工知能(AI)テクノロジデザインⅠ　第1回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72000"/>
            <a:ext cx="10800000" cy="900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3400" b="1">
                <a:solidFill>
                  <a:srgbClr val="222222"/>
                </a:solidFill>
                <a:latin typeface="Noto Sans JP"/>
              </a:rPr>
              <a:t>グループワーク　穴埋めスライド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880000"/>
            <a:ext cx="10800000" cy="43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Noto Sans JP"/>
              </a:rPr>
              <a:t>GW1 AIは何を学習するのか ／ GW2 ディープラーニングプログラミングの流れ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" y="3780000"/>
            <a:ext cx="2160000" cy="503999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400" b="0">
                <a:solidFill>
                  <a:srgbClr val="222222"/>
                </a:solidFill>
                <a:latin typeface="Noto Sans JP"/>
              </a:rPr>
              <a:t>グループ番号：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0000" y="3780000"/>
            <a:ext cx="8424000" cy="503999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メンバー（役割）：implementer　／ verifier　／ recorder　／ presenter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36000"/>
            <a:ext cx="10800000" cy="1080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Noto Sans JP"/>
              </a:rPr>
              <a:t>使い方：黄色の欄を埋める．灰色・緑色のチップは表の欄へドラッグして貼る．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Noto Sans JP"/>
              </a:rPr>
              <a:t>スライドの複製は presenter が行い，記録は recorder が担当する．答え合わせは最後のスライドにある（先に見ない）．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武蔵野大学データサイエンス学部　中村亮太　2026年度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GW1-1　AIの3つのアプローチ ― 表を完成させる（10分）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「どこに注目するか（特徴量）」と「どう判定するか（判定ルール）」を，人が作るのか，データから学習するのか．右のチップを表に貼り，空欄を埋める．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152000"/>
            <a:ext cx="1872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アプローチ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2000" y="1152000"/>
            <a:ext cx="2015999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主な時期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248000" y="1152000"/>
            <a:ext cx="1944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特徴量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（どこに注目するか）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0" y="1152000"/>
            <a:ext cx="1944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判定ルール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（どう判定するか）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6000" y="1152000"/>
            <a:ext cx="2160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代表的な手法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728000"/>
            <a:ext cx="1872000" cy="9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ルールベース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2000" y="1728000"/>
            <a:ext cx="2015999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248000" y="1728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728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136000" y="1728000"/>
            <a:ext cx="2160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664000"/>
            <a:ext cx="1872000" cy="9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従来の機械学習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（統計的機械学習）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2000" y="2664000"/>
            <a:ext cx="2015999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4248000" y="2664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192000" y="2664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136000" y="2664000"/>
            <a:ext cx="2160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600000"/>
            <a:ext cx="1872000" cy="9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深層学習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（深層ニューラルネットワーク）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2000" y="3600000"/>
            <a:ext cx="2015999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248000" y="3600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6192000" y="3600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136000" y="3600000"/>
            <a:ext cx="2160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572000"/>
            <a:ext cx="9720000" cy="216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※ 深層学習の行は，特徴量と判定ルールの 2 欄を 1 つとして考えてよい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8000" y="1152000"/>
            <a:ext cx="1620000" cy="216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Noto Sans JP"/>
              </a:rPr>
              <a:t>チップ（ドラッグして貼る）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68000" y="1440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8000" y="1818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68000" y="2196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68000" y="2574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68000" y="3060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68000" y="3438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8000" y="3816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68000" y="4194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" y="5400000"/>
            <a:ext cx="9720000" cy="1080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問い　(1) 「人が設計」から「データから学習」へ移ったのは，表のどの欄が先か．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(2) 深層学習でも人が決めているものは何か（3つ）．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(3) 3つのアプローチは置き換わったのか，使い分けられているのか．身近な例を1つ挙げる．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GW1-1　記録：recorder が完成した表のスクリーンショットを失敗記録に貼る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GW1-2　画像分類の例で考える ― この写真をどう判定するか（10分）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3つのアプローチそれぞれで，「何を見て」「どう決めるか」を自分たちの言葉で書く．右端にはそのやり方の弱点を書く．</a:t>
            </a:r>
          </a:p>
        </p:txBody>
      </p:sp>
      <p:pic>
        <p:nvPicPr>
          <p:cNvPr id="4" name="Picture 3" descr="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40000"/>
            <a:ext cx="2250000" cy="32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4752000"/>
            <a:ext cx="2340000" cy="360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Noto Sans JP"/>
              </a:rPr>
              <a:t>入力データ（フクロウの写真）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0" y="1224000"/>
            <a:ext cx="1872000" cy="13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ルールベース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人が特徴量と判定ルールを記述する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6000" y="1224000"/>
            <a:ext cx="4140000" cy="1368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if-then ルールを書く：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「＿＿＿＿」かつ「＿＿＿＿」→ フクロウ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000" y="1224000"/>
            <a:ext cx="2628000" cy="13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弱点：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0" y="2880000"/>
            <a:ext cx="1872000" cy="13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従来の機械学習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特徴量は人が設計，分類器はデータから学習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6000" y="2880000"/>
            <a:ext cx="2015999" cy="1368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特徴量（人が設計）：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20000" y="2880000"/>
            <a:ext cx="2015999" cy="1368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分類器（データから学習）：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000" y="2880000"/>
            <a:ext cx="2628000" cy="13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弱点：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000" y="4536000"/>
            <a:ext cx="1872000" cy="13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深層学習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特徴量の抽出と分類をまとめて学習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6000" y="4536000"/>
            <a:ext cx="4140000" cy="1368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何を学習するか：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000" y="4536000"/>
            <a:ext cx="2628000" cy="13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>弱点：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GW1-2　ヒント：ルールの想定外の入力／特徴量の設計に左右される／大量のデータと計算資源が必要，のどれがどこに入るか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GW2-1　プログラミングの流れ ― カードを3つのフェーズに並べる（10分）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下の12枚のカードを，正しい順に上の枠へドラッグする．番号は書いていない．並べたあと，各フェーズの見出しも埋める．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3456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222222"/>
                </a:solidFill>
                <a:latin typeface="Noto Sans JP"/>
              </a:rPr>
              <a:t>データ準備フェーズ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548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106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2664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221999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356000" y="1080000"/>
            <a:ext cx="3456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222222"/>
                </a:solidFill>
                <a:latin typeface="Noto Sans JP"/>
              </a:rPr>
              <a:t>学習設定フェーズ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000" y="1548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6000" y="2106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2664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6000" y="3221999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6000" y="3780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352000" y="1080000"/>
            <a:ext cx="3456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222222"/>
                </a:solidFill>
                <a:latin typeface="Noto Sans JP"/>
              </a:rPr>
              <a:t>学習，評価フェーズ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2000" y="1548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2000" y="2106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2000" y="2664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損失関数の定義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04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ライブラリのインポート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モデル学習＆検証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デバイスの設定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6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データセットの準備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80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モデル性能評価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ネットワークの定義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4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データの前処理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8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学習結果の可視化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2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最適化関数の定義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6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データローダの作成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0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入力データの形状確認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5760000"/>
            <a:ext cx="11448000" cy="64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問い　(1) 「学習」が始まるのは何番目のカードからか．それより前は何をしているか．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(2) データが画像からテキストに変わったとき，差し替えるカードはどれか．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GW2-1　教科書 2.3 節のコードテンプレート①〜⑫に対応する．並べ終えたら番号を書き込む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GW2-2　入力データはどんなテンソルになるか（5分）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どんなデータも「前処理で数値化 → テンソル → ディープラーニングモデル → 出力」の同じ流れに乗る．今日扱う2つの行を必ず埋め，残りは分かる範囲で埋める．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152000"/>
            <a:ext cx="2160000" cy="432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入力データ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152000"/>
            <a:ext cx="3600000" cy="432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前処理（数値化）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0" y="1152000"/>
            <a:ext cx="3240000" cy="432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テンソルの形状（例）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584000"/>
            <a:ext cx="2160000" cy="576000"/>
          </a:xfrm>
          <a:prstGeom prst="rect">
            <a:avLst/>
          </a:prstGeom>
          <a:solidFill>
            <a:srgbClr val="D9EAD3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画像（今日：FashionMNIST）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1584000"/>
            <a:ext cx="360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584000"/>
            <a:ext cx="324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214000"/>
            <a:ext cx="2160000" cy="576000"/>
          </a:xfrm>
          <a:prstGeom prst="rect">
            <a:avLst/>
          </a:prstGeom>
          <a:solidFill>
            <a:srgbClr val="D9EAD3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テキスト（今日：SST-2 映画レビュー）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0" y="2214000"/>
            <a:ext cx="360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2214000"/>
            <a:ext cx="324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844000"/>
            <a:ext cx="2160000" cy="57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数値データ（表形式）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0000" y="2844000"/>
            <a:ext cx="360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2844000"/>
            <a:ext cx="324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474000"/>
            <a:ext cx="2160000" cy="57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音声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20000" y="3474000"/>
            <a:ext cx="360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120000" y="3474000"/>
            <a:ext cx="324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4104000"/>
            <a:ext cx="2160000" cy="57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時系列（加速度センサ）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0000" y="4104000"/>
            <a:ext cx="360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4104000"/>
            <a:ext cx="3240000" cy="57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76000" y="1152000"/>
            <a:ext cx="2268000" cy="3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</a:rPr>
              <a:t>ディープラーニングモデル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Noto Sans JP"/>
              </a:rPr>
              <a:t>（多層ニューラルネットワーク）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Noto Sans JP"/>
              </a:rPr>
              <a:t>層を重ねて，入力テンソルから特徴表現を段階的に抽出する．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Noto Sans JP"/>
              </a:rPr>
              <a:t/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Noto Sans JP"/>
              </a:rPr>
              <a:t>学習：予測と正解の誤差を損失関数で測り，誤差逆伝播で重み（パラメータ）を更新する．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4824000"/>
            <a:ext cx="9000000" cy="79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問い　(1) N は何を表すか．今日の演習で N を変えると何が変わるか（時間？正解率？）．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(2) 画像とテキストで「モデルに入る直前の形状」はどう違うか．それでも同じ学習ループで回るのはなぜか．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GW2-2　ヒント：PyTorch の画像は (N, C, H, W)．テキストは (N, トークン数) の整数 ID 列を埋め込み層が (N, トークン数, 埋め込み次元) にする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3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Noto Sans JP"/>
              </a:rPr>
              <a:t>答え合わせ：GW1-1　AIの3つのアプローチ</a:t>
            </a:r>
          </a:p>
        </p:txBody>
      </p:sp>
      <p:pic>
        <p:nvPicPr>
          <p:cNvPr id="3" name="Picture 2" descr="ai_approach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92000"/>
            <a:ext cx="11448000" cy="37938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教員が全体共有で開く．自グループの答えと違う箇所を recorder が記録し，質問カードの種にする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3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Noto Sans JP"/>
              </a:rPr>
              <a:t>答え合わせ：GW1-2　画像分類の例</a:t>
            </a:r>
          </a:p>
        </p:txBody>
      </p:sp>
      <p:pic>
        <p:nvPicPr>
          <p:cNvPr id="3" name="Picture 2" descr="ai_appr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92000"/>
            <a:ext cx="11448000" cy="44049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教員が全体共有で開く．自グループの答えと違う箇所を recorder が記録し，質問カードの種にする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3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Noto Sans JP"/>
              </a:rPr>
              <a:t>答え合わせ：GW2-1　ディープラーニングプログラミングの流れ</a:t>
            </a:r>
          </a:p>
        </p:txBody>
      </p:sp>
      <p:pic>
        <p:nvPicPr>
          <p:cNvPr id="3" name="Picture 2" descr="dl_programm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92" y="792000"/>
            <a:ext cx="10088135" cy="576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教員が全体共有で開く．自グループの答えと違う箇所を recorder が記録し，質問カードの種にする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3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Noto Sans JP"/>
              </a:rPr>
              <a:t>答え合わせ：GW2-2　テンソルの形状</a:t>
            </a:r>
          </a:p>
        </p:txBody>
      </p:sp>
      <p:pic>
        <p:nvPicPr>
          <p:cNvPr id="3" name="Picture 2" descr="tenso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92000"/>
            <a:ext cx="11448000" cy="4283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教員が全体共有で開く．自グループの答えと違う箇所を recorder が記録し，質問カードの種にする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