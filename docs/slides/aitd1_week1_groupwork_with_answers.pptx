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260000"/>
            <a:ext cx="10800000" cy="72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Noto Sans JP"/>
              </a:rPr>
              <a:t>人工知能(AI)テクノロジデザインⅠ　第1回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872000"/>
            <a:ext cx="10800000" cy="90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3400" b="1">
                <a:solidFill>
                  <a:srgbClr val="222222"/>
                </a:solidFill>
                <a:latin typeface="Noto Sans JP"/>
              </a:rPr>
              <a:t>グループワーク　穴埋めスライド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Noto Sans JP"/>
              </a:rPr>
              <a:t>GW1 AIは何を学習するのか ／ GW2 ディープラーニングプログラミングの流れ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3780000"/>
            <a:ext cx="2160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400" b="0">
                <a:solidFill>
                  <a:srgbClr val="222222"/>
                </a:solidFill>
                <a:latin typeface="Noto Sans JP"/>
              </a:rPr>
              <a:t>班番号：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0000" y="3780000"/>
            <a:ext cx="8424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メンバー（役割）：implementer　／ verifier　／ recorder　／ presenter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536000"/>
            <a:ext cx="1080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使い方：黄色の欄を埋める．灰色・緑色のチップは表の欄へドラッグして貼る．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スライドの複製は presenter が行い，記録は recorder が担当する．答え合わせは最後のスライドにある（先に見ない）．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武蔵野大学データサイエンス学部　中村亮太　2026年度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記録：recorder が完成した表のスクリーンショットを失敗記録に貼る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GW1-2　画像分類の例で考える ― この写真をどう判定するか（10分）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3つのアプローチそれぞれで，「何を見て」「どう決めるか」を自分たちの言葉で書く．右端にはそのやり方の弱点を書く．</a:t>
            </a:r>
          </a:p>
        </p:txBody>
      </p:sp>
      <p:pic>
        <p:nvPicPr>
          <p:cNvPr id="4" name="Picture 3" descr="ow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440000"/>
            <a:ext cx="2250000" cy="32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4752000"/>
            <a:ext cx="2340000" cy="36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Noto Sans JP"/>
              </a:rPr>
              <a:t>入力データ（フクロウの写真）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0" y="1224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ルールベース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人が特徴量と判定ルールを記述する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6000" y="1224000"/>
            <a:ext cx="4140000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if-then ルールを書く：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「＿＿＿＿」かつ「＿＿＿＿」→ フクロウ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0000" y="1224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2880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特徴量は人が設計，分類器はデータから学習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6000" y="2880000"/>
            <a:ext cx="2015999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特徴量（人が設計）：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0000" y="2880000"/>
            <a:ext cx="2015999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分類器（データから学習）：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0000" y="2880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000" y="4536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特徴量の抽出と分類をまとめて学習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6000" y="4536000"/>
            <a:ext cx="4140000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何を学習するか：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0000" y="4536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GW1-2　ヒント：ルールの想定外の入力／特徴量の設計に左右される／大量のデータと計算資源が必要，のどれがどこに入るか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データが画像からテキストに変わったとき，差し替えるカードはどれか．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どんなデータも「前処理で数値化 → テンソル → ディープラーニングモデル → 出力」の同じ流れに乗る．今日扱う2つの行を必ず埋め，残りは分かる範囲で埋める．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60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0000" y="1152000"/>
            <a:ext cx="324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8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画像（今日：FashionMNIST）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8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58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221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テキスト（今日：SST-2 映画レビュー）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221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221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84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84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120000" y="284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347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347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120000" y="347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10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時系列（加速度センサ）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410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410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6000" y="1152000"/>
            <a:ext cx="2268000" cy="36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ディープラーニングモデル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（多層ニューラルネットワーク）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層を重ねて，入力テンソルから特徴表現を段階的に抽出する．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学習：予測と正解の誤差を損失関数で測り，誤差逆伝播で重み（パラメータ）を更新する．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画像とテキストで「モデルに入る直前の形状」はどう違うか．それでも同じ学習ループで回るのはなぜか．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ヒント：PyTorch の画像は (N, C, H, W)．テキストは (N, トークン数) の整数 ID 列を埋め込み層が (N, トークン数, 埋め込み次元) にする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Noto Sans JP"/>
              </a:rPr>
              <a:t>答え合わせ：GW1-1　AIの3つのアプローチ</a:t>
            </a:r>
          </a:p>
        </p:txBody>
      </p:sp>
      <p:pic>
        <p:nvPicPr>
          <p:cNvPr id="3" name="Picture 2" descr="ai_approach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92000"/>
            <a:ext cx="11448000" cy="3793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教員が全体共有で開く．自班の答えと違う箇所を recorder が記録し，質問カードの種にする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Noto Sans JP"/>
              </a:rPr>
              <a:t>答え合わせ：GW1-2　画像分類の例</a:t>
            </a:r>
          </a:p>
        </p:txBody>
      </p:sp>
      <p:pic>
        <p:nvPicPr>
          <p:cNvPr id="3" name="Picture 2" descr="ai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92000"/>
            <a:ext cx="11448000" cy="44049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教員が全体共有で開く．自班の答えと違う箇所を recorder が記録し，質問カードの種にする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Noto Sans JP"/>
              </a:rPr>
              <a:t>答え合わせ：GW2-1　ディープラーニングプログラミングの流れ</a:t>
            </a:r>
          </a:p>
        </p:txBody>
      </p:sp>
      <p:pic>
        <p:nvPicPr>
          <p:cNvPr id="3" name="Picture 2" descr="dl_programmin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92" y="792000"/>
            <a:ext cx="10088135" cy="576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教員が全体共有で開く．自班の答えと違う箇所を recorder が記録し，質問カードの種にする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Noto Sans JP"/>
              </a:rPr>
              <a:t>答え合わせ：GW2-2　テンソルの形状</a:t>
            </a:r>
          </a:p>
        </p:txBody>
      </p:sp>
      <p:pic>
        <p:nvPicPr>
          <p:cNvPr id="3" name="Picture 2" descr="tenso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92000"/>
            <a:ext cx="11448000" cy="42837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教員が全体共有で開く．自班の答えと違う箇所を recorder が記録し，質問カードの種にする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