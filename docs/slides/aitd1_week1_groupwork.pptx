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GW1-1　AIの3つのアプローチ ― 表を完成させる（10分）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「どこに注目するか（特徴量）」と「どう判定するか（判定ルール）」を，人が作るのか，データから学習するのか．右のチップを表に貼り，空欄を埋める．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152000"/>
            <a:ext cx="1872000" cy="57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アプローチ</a:t>
            </a:r>
          </a:p>
        </p:txBody>
      </p:sp>
      <p:sp>
        <p:nvSpPr>
          <p:cNvPr id="5" name="Rectangle 4"/>
          <p:cNvSpPr/>
          <p:nvPr/>
        </p:nvSpPr>
        <p:spPr>
          <a:xfrm>
            <a:off x="2232000" y="1152000"/>
            <a:ext cx="2015999" cy="57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主な時期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248000" y="1152000"/>
            <a:ext cx="1944000" cy="57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特徴量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（どこに注目するか）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0" y="1152000"/>
            <a:ext cx="1944000" cy="57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判定ルール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（どう判定するか）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6000" y="1152000"/>
            <a:ext cx="2160000" cy="57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代表的な手法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728000"/>
            <a:ext cx="1872000" cy="93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ルールベース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2000" y="1728000"/>
            <a:ext cx="2015999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248000" y="1728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1728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136000" y="1728000"/>
            <a:ext cx="2160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2664000"/>
            <a:ext cx="1872000" cy="93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従来の機械学習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（統計的機械学習）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2000" y="2664000"/>
            <a:ext cx="2015999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4248000" y="2664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192000" y="2664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8136000" y="2664000"/>
            <a:ext cx="2160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3600000"/>
            <a:ext cx="1872000" cy="93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深層学習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（深層ニューラルネットワーク）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2000" y="3600000"/>
            <a:ext cx="2015999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4248000" y="3600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6192000" y="3600000"/>
            <a:ext cx="1944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136000" y="3600000"/>
            <a:ext cx="2160000" cy="93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4572000"/>
            <a:ext cx="9720000" cy="216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※ 深層学習の行は，特徴量と判定ルールの 2 欄を 1 つとして考えてよい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8000" y="1152000"/>
            <a:ext cx="1620000" cy="216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Noto Sans JP"/>
              </a:rPr>
              <a:t>チップ（ドラッグして貼る）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68000" y="1440000"/>
            <a:ext cx="1296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人が設計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68000" y="1818000"/>
            <a:ext cx="1296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人が設計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68000" y="2196000"/>
            <a:ext cx="1296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人が設計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68000" y="2574000"/>
            <a:ext cx="1296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人が設計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68000" y="3060000"/>
            <a:ext cx="1296000" cy="32400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データから学習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68000" y="3438000"/>
            <a:ext cx="1296000" cy="32400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データから学習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68000" y="3816000"/>
            <a:ext cx="1296000" cy="32400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データから学習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68000" y="4194000"/>
            <a:ext cx="1296000" cy="324000"/>
          </a:xfrm>
          <a:prstGeom prst="roundRect">
            <a:avLst/>
          </a:prstGeom>
          <a:solidFill>
            <a:srgbClr val="D9EAD3"/>
          </a:solidFill>
          <a:ln w="15875">
            <a:solidFill>
              <a:srgbClr val="6A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データから学習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000" y="5400000"/>
            <a:ext cx="9720000" cy="1080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問い　(1) 「人が設計」から「データから学習」へ移ったのは，表のどの欄が先か．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　　　(2) 深層学習でも人が決めているものは何か（3つ）．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　　　(3) 3つのアプローチは置き換わったのか，使い分けられているのか．身近な例を1つ挙げる．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GW1-1　記録：完成した表のスクリーンショットをグループで共有する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GW1-2　データの分割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空欄に「訓練データ」「検証データ」「テストデータ」を入れる．説明文が手がかり．</a:t>
            </a:r>
          </a:p>
        </p:txBody>
      </p:sp>
      <p:pic>
        <p:nvPicPr>
          <p:cNvPr id="4" name="Picture 3" descr="data_split_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11448000" cy="414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GW1-2　黄色の欄に書き込む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GW1-3　順伝播と誤差逆伝播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①〜④の名前と図のタイトルを入れる．矢印の向きと説明が手がかり．</a:t>
            </a:r>
          </a:p>
        </p:txBody>
      </p:sp>
      <p:pic>
        <p:nvPicPr>
          <p:cNvPr id="4" name="Picture 3" descr="forward_backward_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45" y="1080000"/>
            <a:ext cx="10571428" cy="532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GW1-3　黄色の欄に書き込む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GW1-4　線形関数と非線形関数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各グラフに「線形」か「非線形」かを入れる．③の空欄は層の中の関数の名前．</a:t>
            </a:r>
          </a:p>
        </p:txBody>
      </p:sp>
      <p:pic>
        <p:nvPicPr>
          <p:cNvPr id="4" name="Picture 3" descr="linear_nonlinear_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00" y="1080000"/>
            <a:ext cx="10497318" cy="532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GW1-4　黄色の欄に書き込む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GW1-5　学習と推論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2つの段階の名前，重みの状態（更新中／固定），図のタイトルを入れる．</a:t>
            </a:r>
          </a:p>
        </p:txBody>
      </p:sp>
      <p:pic>
        <p:nvPicPr>
          <p:cNvPr id="4" name="Picture 3" descr="train_vs_inference_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60" y="1080000"/>
            <a:ext cx="11032398" cy="532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GW1-5　黄色の欄に書き込む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GW1-6　学習の1ステップ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①〜④の名前と，それぞれの PyTorch のコードを入れる（GW3 のカードに同じコードがある）．</a:t>
            </a:r>
          </a:p>
        </p:txBody>
      </p:sp>
      <p:pic>
        <p:nvPicPr>
          <p:cNvPr id="4" name="Picture 3" descr="training_step_cycle_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48" y="1080000"/>
            <a:ext cx="11177622" cy="532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GW1-6　黄色の欄に書き込む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GW2-1　プログラミングの流れ ― カードを3つのフェーズに並べる（10分）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下の12枚のカードを，正しい順に上の枠へドラッグする．番号は書いていない．並べたあと，各フェーズの見出しも埋める．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3456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300" b="1">
                <a:solidFill>
                  <a:srgbClr val="222222"/>
                </a:solidFill>
                <a:latin typeface="Noto Sans JP"/>
              </a:rPr>
              <a:t>データ準備フェーズ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548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2106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2664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3221999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4356000" y="1080000"/>
            <a:ext cx="3456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300" b="1">
                <a:solidFill>
                  <a:srgbClr val="222222"/>
                </a:solidFill>
                <a:latin typeface="Noto Sans JP"/>
              </a:rPr>
              <a:t>学習設定フェーズ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6000" y="1548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6000" y="2106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2664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6000" y="3221999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6000" y="3780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352000" y="1080000"/>
            <a:ext cx="3456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300" b="1">
                <a:solidFill>
                  <a:srgbClr val="222222"/>
                </a:solidFill>
                <a:latin typeface="Noto Sans JP"/>
              </a:rPr>
              <a:t>学習，評価フェーズ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2000" y="1548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2000" y="2106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2000" y="2664000"/>
            <a:ext cx="3456000" cy="468000"/>
          </a:xfrm>
          <a:prstGeom prst="roundRect">
            <a:avLst/>
          </a:prstGeom>
          <a:solidFill>
            <a:srgbClr val="FFF9C4"/>
          </a:solidFill>
          <a:ln w="15875">
            <a:solidFill>
              <a:srgbClr val="F9A82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損失関数の定義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04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ライブラリのインポート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モデル学習＆検証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デバイスの設定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6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データセットの準備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80000" y="4536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モデル性能評価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ネットワークの定義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04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データの前処理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8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学習結果の可視化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2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最適化関数の定義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6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データローダの作成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80000" y="5112000"/>
            <a:ext cx="1835999" cy="46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入力データの形状確認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5760000"/>
            <a:ext cx="11448000" cy="64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問い　(1) 「学習」が始まるのは何番目のカードからか．それより前は何をしているか．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　　　(2) データが FashionMNIST からオリジナル画像に変わったとき，差し替えるカードはどれか．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GW2-1　教科書 2.3 節のコードテンプレート①〜⑫に対応する．並べ終えたら番号を書き込む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448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Noto Sans JP"/>
              </a:rPr>
              <a:t>GW2-2　入力データはどんなテンソルになるか（5分）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"/>
            <a:ext cx="11448000" cy="324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Noto Sans JP"/>
              </a:rPr>
              <a:t>前処理とテンソルの形状から，右の候補を選んで左の「入力データ」の列に書く（ドラッグしてもよい）．どんなデータも「前処理で数値化 → テンソル → ディープラーニングモデル → 出力」の同じ流れに乗る．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152000"/>
            <a:ext cx="2160000" cy="39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入力データ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152000"/>
            <a:ext cx="3240000" cy="39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前処理（数値化）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0" y="1152000"/>
            <a:ext cx="3600000" cy="39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テンソルの形状（例）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548000"/>
            <a:ext cx="2160000" cy="39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520000" y="1548000"/>
            <a:ext cx="324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欠損処理・標準化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0" y="1548000"/>
            <a:ext cx="360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(N, 特徴量数)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944000"/>
            <a:ext cx="2160000" cy="39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0" y="1944000"/>
            <a:ext cx="324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トークン化→ID列→埋め込み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0" y="1944000"/>
            <a:ext cx="360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(N, トークン数, 埋め込み次元)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2340000"/>
            <a:ext cx="2160000" cy="39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2520000" y="2340000"/>
            <a:ext cx="324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サンプリング／スペクトログラム化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0" y="2340000"/>
            <a:ext cx="360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(N, サンプル数) / (N, 1, 周波数, 時間)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736000"/>
            <a:ext cx="2160000" cy="39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2520000" y="2736000"/>
            <a:ext cx="324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画素値の正規化・リサイズ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0" y="2736000"/>
            <a:ext cx="360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(N, チャネル, 高さ, 幅)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3131999"/>
            <a:ext cx="2160000" cy="39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2520000" y="3131999"/>
            <a:ext cx="324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フレーム抽出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000" y="3131999"/>
            <a:ext cx="360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(N, フレーム数, チャネル, 高さ, 幅)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3528000"/>
            <a:ext cx="2160000" cy="39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520000" y="3528000"/>
            <a:ext cx="324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座標の正規化・点の抽出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000" y="3528000"/>
            <a:ext cx="360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(N, 点数, 3) ／ 頂点(V,3)+面(F,3)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3924000"/>
            <a:ext cx="2160000" cy="39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2520000" y="3924000"/>
            <a:ext cx="324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ノード特徴・接続関係の数値化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000" y="3924000"/>
            <a:ext cx="360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ノード特徴(ノード数, D)+隣接行列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4320000"/>
            <a:ext cx="2160000" cy="396000"/>
          </a:xfrm>
          <a:prstGeom prst="rect">
            <a:avLst/>
          </a:prstGeom>
          <a:solidFill>
            <a:srgbClr val="FFF9C4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0">
                <a:solidFill>
                  <a:srgbClr val="222222"/>
                </a:solidFill>
                <a:latin typeface="Noto Sans JP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2520000" y="4320000"/>
            <a:ext cx="324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窓切り出し・標準化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000" y="4320000"/>
            <a:ext cx="3600000" cy="3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000" b="0">
                <a:solidFill>
                  <a:srgbClr val="222222"/>
                </a:solidFill>
                <a:latin typeface="Noto Sans JP"/>
              </a:rPr>
              <a:t>(N, 時間ステップ数, 変数数)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76000" y="1152000"/>
            <a:ext cx="2268000" cy="396000"/>
          </a:xfrm>
          <a:prstGeom prst="rect">
            <a:avLst/>
          </a:prstGeom>
          <a:solidFill>
            <a:srgbClr val="ECEE67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JP"/>
              </a:rPr>
              <a:t>入力データの候補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4000" y="1602000"/>
            <a:ext cx="2052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画像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4000" y="1998000"/>
            <a:ext cx="2052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時系列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84000" y="2394000"/>
            <a:ext cx="2052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テキスト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4000" y="2790000"/>
            <a:ext cx="2052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グラフ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84000" y="3186000"/>
            <a:ext cx="2052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数値データ（表形式）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84000" y="3581999"/>
            <a:ext cx="2052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動画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84000" y="3978000"/>
            <a:ext cx="2052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音声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84000" y="4374000"/>
            <a:ext cx="2052000" cy="324000"/>
          </a:xfrm>
          <a:prstGeom prst="roundRect">
            <a:avLst/>
          </a:prstGeom>
          <a:solidFill>
            <a:srgbClr val="E0E0E0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JP"/>
              </a:rPr>
              <a:t>3D：点群／メッシュ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000" y="4824000"/>
            <a:ext cx="9000000" cy="792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問い　(1) N は何を表すか．今日の演習で N を変えると何が変わるか（時間？正解率？）．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Noto Sans JP"/>
              </a:rPr>
              <a:t>　　　(2) FashionMNIST（白黒 28×28）とオリジナル画像（カラー 64×64）で「モデルに入る直前の形状」はどう違うか．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000" y="6516000"/>
            <a:ext cx="11448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Noto Sans JP"/>
              </a:rPr>
              <a:t>GW2-2　ヒント：前処理の言葉（トークン，フレーム，スペクトログラム，ノード など）が手がかり．今日の FashionMNIST とオリジナル画像はどの行か．N はバッチサイズ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